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Kanit Light" pitchFamily="2" charset="-34"/>
      <p:regular r:id="rId13"/>
    </p:embeddedFont>
    <p:embeddedFont>
      <p:font typeface="Martel Sans" pitchFamily="2" charset="77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>
        <p:scale>
          <a:sx n="159" d="100"/>
          <a:sy n="159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680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9483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AI-Enabled Student Complaint Redressal Portal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9340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centralized, intelligent platform for submitting, managing, prioritizing, and resolving student grievances — powered by AI, NLP, and real-time tracking.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433316"/>
            <a:ext cx="1518717" cy="215354"/>
          </a:xfrm>
          <a:prstGeom prst="roundRect">
            <a:avLst>
              <a:gd name="adj" fmla="val 22119"/>
            </a:avLst>
          </a:prstGeom>
          <a:solidFill>
            <a:srgbClr val="DFECE9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475806"/>
            <a:ext cx="180580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ACADEMIC INNOVATION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514677" y="3433316"/>
            <a:ext cx="1646411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370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99733" y="3475806"/>
            <a:ext cx="193350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GRIEVANCE MANAGEMENT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231931" y="3433316"/>
            <a:ext cx="876746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370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6986" y="3475806"/>
            <a:ext cx="116383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AI-POWERED</a:t>
            </a:r>
            <a:endParaRPr lang="en-US" sz="8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937590-566B-423B-84E6-0D5F838FCB06}"/>
              </a:ext>
            </a:extLst>
          </p:cNvPr>
          <p:cNvSpPr txBox="1"/>
          <p:nvPr/>
        </p:nvSpPr>
        <p:spPr>
          <a:xfrm>
            <a:off x="3925119" y="3850630"/>
            <a:ext cx="22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0217B9-9A69-4DBA-423D-3D9CE8C936BF}"/>
              </a:ext>
            </a:extLst>
          </p:cNvPr>
          <p:cNvSpPr txBox="1"/>
          <p:nvPr/>
        </p:nvSpPr>
        <p:spPr>
          <a:xfrm>
            <a:off x="3954027" y="3906777"/>
            <a:ext cx="1882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DASARI SOWMYA SREE</a:t>
            </a:r>
          </a:p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323129512009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5025"/>
            <a:ext cx="4722763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Problem with Traditional Complaint Systems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925119" y="1275904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42842" y="1393627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 Centralized Tracking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042842" y="1624087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Complaints submitted via paper or email disappear into silos with no visibility into status or ownership.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925119" y="2156520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42842" y="2274243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Delayed Responses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42842" y="2504703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Manual routing causes bottlenecks. Students wait weeks without acknowledgment or updates.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25119" y="3037136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42842" y="3154859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 Prioritization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42842" y="3385319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Urgent academic grievances are treated the same as minor inquiries, causing critical issues to stall.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25119" y="3917752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42842" y="4035475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Zero Accountability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42842" y="4265935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Without audit trails or performance metrics, departments face no pressure to resolve issues promptly.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7423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Proposed Solution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990377"/>
            <a:ext cx="8151763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 AI-enabled Complaint Redressal and Resolution Tracking Portal replaces fragmented processes with a single, intelligent platform — from first submission to final resolution.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77206"/>
            <a:ext cx="5202138" cy="294783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0991" y="1520986"/>
            <a:ext cx="169441" cy="1694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45734" y="1517526"/>
            <a:ext cx="230683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Centralized Submission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345734" y="1784003"/>
            <a:ext cx="2306836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Students submit complaints online with document uploads, replacing paper and email.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0991" y="2454585"/>
            <a:ext cx="169441" cy="16944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45734" y="2451125"/>
            <a:ext cx="230683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AI-Powered Classification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345734" y="2717602"/>
            <a:ext cx="230683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NLP automatically categorizes and routes complaints to the correct department.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0991" y="3225812"/>
            <a:ext cx="169441" cy="16944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45734" y="3222352"/>
            <a:ext cx="230683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Priority-Based Management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6345734" y="3488829"/>
            <a:ext cx="230683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Urgency scoring ensures critical issues are escalated and resolved first.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0991" y="3997040"/>
            <a:ext cx="169441" cy="16944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345734" y="3993579"/>
            <a:ext cx="230683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End-to-End Transparency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6345734" y="4260056"/>
            <a:ext cx="230683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Real-time status tracking and notifications keep students informed at every stage.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9015" y="203739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System Architecture &amp; Core Modules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64" y="453166"/>
            <a:ext cx="7653117" cy="33378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6872" y="708527"/>
            <a:ext cx="1744467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Student Interface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86872" y="1003008"/>
            <a:ext cx="1744467" cy="27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Web portal and document upload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66607" y="1254692"/>
            <a:ext cx="1744467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66607" y="1549173"/>
            <a:ext cx="1744467" cy="27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NLP classification and scoring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38528" y="1767741"/>
            <a:ext cx="1744467" cy="458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Workflow Automation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8528" y="2291488"/>
            <a:ext cx="1744467" cy="27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Routing, assignment, escalation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566607" y="2525850"/>
            <a:ext cx="1744467" cy="458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Department Dashboard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66607" y="3049598"/>
            <a:ext cx="1744467" cy="27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Resolution tracking and updates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421092" y="3227407"/>
            <a:ext cx="1744467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Admin Analytics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21092" y="3521888"/>
            <a:ext cx="1744467" cy="27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Reports and performance monitoring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99015" y="4049309"/>
            <a:ext cx="815176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portal's architecture is organized into five interconnected layers, each handling a distinct stage of the grievance lifecycle — from initial submission through AI processing and automated routing to departmental resolution and administrative oversight.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399015" y="4272551"/>
            <a:ext cx="8151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Core Modules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399015" y="4436411"/>
            <a:ext cx="2011338" cy="271463"/>
          </a:xfrm>
          <a:prstGeom prst="roundRect">
            <a:avLst>
              <a:gd name="adj" fmla="val 10967"/>
            </a:avLst>
          </a:prstGeom>
          <a:solidFill>
            <a:srgbClr val="FFFFFF"/>
          </a:solidFill>
          <a:ln w="9525">
            <a:solidFill>
              <a:srgbClr val="C5D2C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9382" y="4516778"/>
            <a:ext cx="18506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Complaint Registration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2445773" y="4436411"/>
            <a:ext cx="2011412" cy="271463"/>
          </a:xfrm>
          <a:prstGeom prst="roundRect">
            <a:avLst>
              <a:gd name="adj" fmla="val 10967"/>
            </a:avLst>
          </a:prstGeom>
          <a:solidFill>
            <a:srgbClr val="FFFFFF"/>
          </a:solidFill>
          <a:ln w="9525">
            <a:solidFill>
              <a:srgbClr val="C5D2C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26141" y="4516778"/>
            <a:ext cx="18506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 Classification Engine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4492607" y="4436411"/>
            <a:ext cx="2011338" cy="271463"/>
          </a:xfrm>
          <a:prstGeom prst="roundRect">
            <a:avLst>
              <a:gd name="adj" fmla="val 10967"/>
            </a:avLst>
          </a:prstGeom>
          <a:solidFill>
            <a:srgbClr val="FFFFFF"/>
          </a:solidFill>
          <a:ln w="9525">
            <a:solidFill>
              <a:srgbClr val="C5D2C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974" y="4516778"/>
            <a:ext cx="18506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Priority Manager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6539365" y="4436411"/>
            <a:ext cx="2011412" cy="271463"/>
          </a:xfrm>
          <a:prstGeom prst="roundRect">
            <a:avLst>
              <a:gd name="adj" fmla="val 10967"/>
            </a:avLst>
          </a:prstGeom>
          <a:solidFill>
            <a:srgbClr val="FFFFFF"/>
          </a:solidFill>
          <a:ln w="9525">
            <a:solidFill>
              <a:srgbClr val="C5D2C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19733" y="4516778"/>
            <a:ext cx="18506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Workflow Automation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399015" y="4743295"/>
            <a:ext cx="4058171" cy="271463"/>
          </a:xfrm>
          <a:prstGeom prst="roundRect">
            <a:avLst>
              <a:gd name="adj" fmla="val 10967"/>
            </a:avLst>
          </a:prstGeom>
          <a:solidFill>
            <a:srgbClr val="FFFFFF"/>
          </a:solidFill>
          <a:ln w="9525">
            <a:solidFill>
              <a:srgbClr val="C5D2C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9382" y="4823662"/>
            <a:ext cx="38974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Notification System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4492607" y="4743295"/>
            <a:ext cx="4058171" cy="271463"/>
          </a:xfrm>
          <a:prstGeom prst="roundRect">
            <a:avLst>
              <a:gd name="adj" fmla="val 10967"/>
            </a:avLst>
          </a:prstGeom>
          <a:solidFill>
            <a:srgbClr val="FFFFFF"/>
          </a:solidFill>
          <a:ln w="9525">
            <a:solidFill>
              <a:srgbClr val="C5D2C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974" y="4823662"/>
            <a:ext cx="38974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Admin Dashboard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027" y="26847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AI-Powered Complaint Classification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27" y="582875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55140" y="2421200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How NLP Drives Accuracy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655140" y="2567349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Natural Language Processing analyzes the semantic meaning of each complaint, extracting intent, sentiment, and key entities to determine the correct category and urgency level — eliminating manual sorting errors.</a:t>
            </a:r>
            <a:endParaRPr lang="en-US" sz="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502" y="4642385"/>
            <a:ext cx="2697212" cy="2360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7919" y="4651910"/>
            <a:ext cx="259779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Intent Recognition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577919" y="4783846"/>
            <a:ext cx="259779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Identifies the nature of the grievance from unstructured text.</a:t>
            </a:r>
            <a:endParaRPr lang="en-US" sz="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10465" y="4642385"/>
            <a:ext cx="2697287" cy="23604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09882" y="4651910"/>
            <a:ext cx="259786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Sentiment Scoring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3309882" y="4783846"/>
            <a:ext cx="259786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Detects urgency and emotional tone to influence priority.</a:t>
            </a:r>
            <a:endParaRPr lang="en-US" sz="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2503" y="4642385"/>
            <a:ext cx="2697212" cy="23604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41920" y="4651910"/>
            <a:ext cx="259779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Auto-Routing</a:t>
            </a:r>
            <a:endParaRPr lang="en-US" sz="650" dirty="0"/>
          </a:p>
        </p:txBody>
      </p:sp>
      <p:sp>
        <p:nvSpPr>
          <p:cNvPr id="14" name="Text 8"/>
          <p:cNvSpPr/>
          <p:nvPr/>
        </p:nvSpPr>
        <p:spPr>
          <a:xfrm>
            <a:off x="6041920" y="4783846"/>
            <a:ext cx="259779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Instantly assigns complaints to the correct department.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0302"/>
            <a:ext cx="4722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Priority-Based Issue Management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3925119" y="1387748"/>
            <a:ext cx="4722763" cy="3365450"/>
          </a:xfrm>
          <a:prstGeom prst="roundRect">
            <a:avLst>
              <a:gd name="adj" fmla="val 1631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29881" y="1392510"/>
            <a:ext cx="4713238" cy="939403"/>
          </a:xfrm>
          <a:custGeom>
            <a:avLst/>
            <a:gdLst/>
            <a:ahLst/>
            <a:cxnLst/>
            <a:rect l="l" t="t" r="r" b="b"/>
            <a:pathLst>
              <a:path w="4713238" h="939403">
                <a:moveTo>
                  <a:pt x="45742" y="0"/>
                </a:moveTo>
                <a:lnTo>
                  <a:pt x="4667496" y="0"/>
                </a:lnTo>
                <a:arcTo wR="45742" hR="45742" stAng="16200000" swAng="5400000"/>
                <a:lnTo>
                  <a:pt x="4713238" y="939403"/>
                </a:lnTo>
                <a:lnTo>
                  <a:pt x="0" y="939403"/>
                </a:lnTo>
                <a:lnTo>
                  <a:pt x="0" y="45742"/>
                </a:lnTo>
                <a:arcTo wR="45742" hR="45742" stAng="10800000" swAng="5400000"/>
                <a:close/>
              </a:path>
            </a:pathLst>
          </a:custGeom>
          <a:solidFill>
            <a:srgbClr val="DFECE9"/>
          </a:solidFill>
          <a:ln/>
        </p:spPr>
      </p:sp>
      <p:sp>
        <p:nvSpPr>
          <p:cNvPr id="6" name="Text 3"/>
          <p:cNvSpPr/>
          <p:nvPr/>
        </p:nvSpPr>
        <p:spPr>
          <a:xfrm>
            <a:off x="4060552" y="1523181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Critical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60552" y="1799555"/>
            <a:ext cx="445189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Immediate action required. Auto-escalated within 1 hour. Examples: safety, exam disputes.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929881" y="2331913"/>
            <a:ext cx="4713238" cy="738560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9" name="Shape 6"/>
          <p:cNvSpPr/>
          <p:nvPr/>
        </p:nvSpPr>
        <p:spPr>
          <a:xfrm>
            <a:off x="3929881" y="2331913"/>
            <a:ext cx="4713238" cy="14288"/>
          </a:xfrm>
          <a:prstGeom prst="roundRect">
            <a:avLst>
              <a:gd name="adj" fmla="val 49998"/>
            </a:avLst>
          </a:prstGeom>
          <a:solidFill>
            <a:srgbClr val="C5D2CF"/>
          </a:solidFill>
          <a:ln/>
        </p:spPr>
      </p:sp>
      <p:sp>
        <p:nvSpPr>
          <p:cNvPr id="10" name="Text 7"/>
          <p:cNvSpPr/>
          <p:nvPr/>
        </p:nvSpPr>
        <p:spPr>
          <a:xfrm>
            <a:off x="4060552" y="2462585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🟠</a:t>
            </a: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High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060552" y="2738958"/>
            <a:ext cx="44518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Resolved within 24 hours. Examples: financial aid, registration blocks.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29881" y="3070473"/>
            <a:ext cx="4713238" cy="939403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13" name="Shape 10"/>
          <p:cNvSpPr/>
          <p:nvPr/>
        </p:nvSpPr>
        <p:spPr>
          <a:xfrm>
            <a:off x="3929881" y="3070473"/>
            <a:ext cx="4713238" cy="14288"/>
          </a:xfrm>
          <a:prstGeom prst="roundRect">
            <a:avLst>
              <a:gd name="adj" fmla="val 49998"/>
            </a:avLst>
          </a:prstGeom>
          <a:solidFill>
            <a:srgbClr val="C5D2CF"/>
          </a:solidFill>
          <a:ln/>
        </p:spPr>
      </p:sp>
      <p:sp>
        <p:nvSpPr>
          <p:cNvPr id="14" name="Text 11"/>
          <p:cNvSpPr/>
          <p:nvPr/>
        </p:nvSpPr>
        <p:spPr>
          <a:xfrm>
            <a:off x="4060552" y="3201144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🟡</a:t>
            </a: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Medium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060552" y="3477518"/>
            <a:ext cx="445189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Resolved within 3 business days. Examples: facility issues, scheduling conflicts.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929881" y="4009876"/>
            <a:ext cx="4713238" cy="738560"/>
          </a:xfrm>
          <a:custGeom>
            <a:avLst/>
            <a:gdLst/>
            <a:ahLst/>
            <a:cxnLst/>
            <a:rect l="l" t="t" r="r" b="b"/>
            <a:pathLst>
              <a:path w="4713238" h="738560">
                <a:moveTo>
                  <a:pt x="0" y="0"/>
                </a:moveTo>
                <a:lnTo>
                  <a:pt x="4713238" y="0"/>
                </a:lnTo>
                <a:lnTo>
                  <a:pt x="4713238" y="692817"/>
                </a:lnTo>
                <a:arcTo wR="45742" hR="45742" stAng="0" swAng="5400000"/>
                <a:lnTo>
                  <a:pt x="45742" y="738560"/>
                </a:lnTo>
                <a:arcTo wR="45742" hR="45742" stAng="5400000" swAng="5400000"/>
                <a:lnTo>
                  <a:pt x="0" y="0"/>
                </a:lnTo>
                <a:close/>
              </a:path>
            </a:pathLst>
          </a:custGeom>
          <a:solidFill>
            <a:srgbClr val="DFECE9"/>
          </a:solidFill>
          <a:ln/>
        </p:spPr>
      </p:sp>
      <p:sp>
        <p:nvSpPr>
          <p:cNvPr id="17" name="Shape 14"/>
          <p:cNvSpPr/>
          <p:nvPr/>
        </p:nvSpPr>
        <p:spPr>
          <a:xfrm>
            <a:off x="3929881" y="4009876"/>
            <a:ext cx="4713238" cy="14288"/>
          </a:xfrm>
          <a:prstGeom prst="roundRect">
            <a:avLst>
              <a:gd name="adj" fmla="val 49998"/>
            </a:avLst>
          </a:prstGeom>
          <a:solidFill>
            <a:srgbClr val="C5D2CF"/>
          </a:solidFill>
          <a:ln/>
        </p:spPr>
      </p:sp>
      <p:sp>
        <p:nvSpPr>
          <p:cNvPr id="18" name="Text 15"/>
          <p:cNvSpPr/>
          <p:nvPr/>
        </p:nvSpPr>
        <p:spPr>
          <a:xfrm>
            <a:off x="4060552" y="4140547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🟢</a:t>
            </a: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Low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060552" y="4416921"/>
            <a:ext cx="44518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Resolved within 7 days. Examples: general inquiries, feedback requests.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259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Portal Features by User Role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59098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467942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Students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774454"/>
            <a:ext cx="2599134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Submit complaints with document uploads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Track real-time status and history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Receive automated notifications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Provide post-resolution feedback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1359098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467942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Department Staff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774454"/>
            <a:ext cx="2599134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View assigned complaints by priority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Update resolution status and notes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Escalate complex issues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Access departmental performance data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1359098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467942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Administrators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774454"/>
            <a:ext cx="2599134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Manage departments and user roles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Monitor response times and SLAs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Generate institutional reports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Analyze recurring issue patterns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594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Complaint Lifecycle &amp; Workflow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046931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289072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Notify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289072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Resolve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289072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Assign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289072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Classify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289072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Submit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143375"/>
            <a:ext cx="815176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Every complaint follows a structured, auditable lifecycle — from initial submission through AI classification, departmental assignment, resolution, and student feedback. Automated notifications are triggered at each stage, ensuring students are never left without visibility into their grievance's progress.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2048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Measurable Benefits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130573"/>
            <a:ext cx="4003104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3x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496119" y="1706017"/>
            <a:ext cx="400310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Faster Resolution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96119" y="1976512"/>
            <a:ext cx="400310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Automated routing and prioritization dramatically cut resolution time versus manual processes.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44703" y="1130573"/>
            <a:ext cx="4003179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90%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4644703" y="1706017"/>
            <a:ext cx="40031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Auto-Classification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644703" y="1976512"/>
            <a:ext cx="40031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AI accurately categorizes the majority of complaints without human intervention.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6119" y="2665437"/>
            <a:ext cx="4003104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100%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496119" y="3240881"/>
            <a:ext cx="400310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Transparency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6119" y="3511376"/>
            <a:ext cx="400310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Every student has full visibility into complaint status from submission to closure.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44703" y="2665437"/>
            <a:ext cx="4003179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40%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4644703" y="3240881"/>
            <a:ext cx="40031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Less Admin Effort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44703" y="3511376"/>
            <a:ext cx="40031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Workflow automation significantly reduces manual workload for administrative staff.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6119" y="4034210"/>
            <a:ext cx="8151763" cy="677168"/>
          </a:xfrm>
          <a:prstGeom prst="roundRect">
            <a:avLst>
              <a:gd name="adj" fmla="val 7969"/>
            </a:avLst>
          </a:prstGeom>
          <a:solidFill>
            <a:srgbClr val="DFECE9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57" y="4215631"/>
            <a:ext cx="160586" cy="12843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13581" y="4182666"/>
            <a:ext cx="760586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portal also strengthens accountability through audit trails, enables data-driven institutional decisions, and improves student satisfaction by ensuring no grievance goes unheard.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177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Road Ahead: Future Enhancements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438275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1486942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 Chatbot Assistant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1793453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24/7 conversational support for complaint guidance and status inquiries.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438275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1250" y="1486942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Multilingual Processing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21250" y="1793453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NLP models supporting regional languages for inclusive access.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530599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6816" y="2579266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Mobile Application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56816" y="2885777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Native iOS and Android apps with push notifications and offline submission.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2530599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21250" y="2579266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Cloud &amp; ERP Integration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121250" y="2885777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Seamless connection with institutional ERP, SIS, and cloud infrastructure.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622923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56816" y="3671590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Predictive Analytics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956816" y="3978101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Identify recurring institutional issues before they escalate using trend modeling.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622923"/>
            <a:ext cx="283518" cy="28351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21250" y="3671590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Voice-Based Submission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5121250" y="3978101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Speech-to-text complaint intake for accessibility and convenience.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722</Words>
  <Application>Microsoft Macintosh PowerPoint</Application>
  <PresentationFormat>On-screen Show (16:9)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Kanit Light</vt:lpstr>
      <vt:lpstr>Arial</vt:lpstr>
      <vt:lpstr>Times New Roman</vt:lpstr>
      <vt:lpstr>Martel Sans</vt:lpstr>
      <vt:lpstr>Twemoji Mozilla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Lalam githa vamsiram</cp:lastModifiedBy>
  <cp:revision>3</cp:revision>
  <dcterms:created xsi:type="dcterms:W3CDTF">2026-07-28T05:12:25Z</dcterms:created>
  <dcterms:modified xsi:type="dcterms:W3CDTF">2026-08-07T04:40:50Z</dcterms:modified>
</cp:coreProperties>
</file>